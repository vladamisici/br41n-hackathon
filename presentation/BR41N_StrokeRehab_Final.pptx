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C8FA32"/>
          </a:solidFill>
          <a:ln/>
        </p:spPr>
      </p:sp>
      <p:sp>
        <p:nvSpPr>
          <p:cNvPr id="3" name="Shape 1"/>
          <p:cNvSpPr/>
          <p:nvPr/>
        </p:nvSpPr>
        <p:spPr>
          <a:xfrm>
            <a:off x="4206240" y="640080"/>
            <a:ext cx="2011680" cy="548640"/>
          </a:xfrm>
          <a:prstGeom prst="roundRect">
            <a:avLst>
              <a:gd name="adj" fmla="val 13333"/>
            </a:avLst>
          </a:prstGeom>
          <a:solidFill>
            <a:srgbClr val="C8FA32"/>
          </a:solidFill>
          <a:ln/>
        </p:spPr>
      </p:sp>
      <p:sp>
        <p:nvSpPr>
          <p:cNvPr id="4" name="Text 2"/>
          <p:cNvSpPr/>
          <p:nvPr/>
        </p:nvSpPr>
        <p:spPr>
          <a:xfrm>
            <a:off x="4206240" y="6400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BR41N.IO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0" y="21945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Patient-Stratified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114800" y="28346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Imagery Classification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114800" y="347472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C8F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Stroke Rehabilitation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4160520" y="4846320"/>
            <a:ext cx="45720" cy="914400"/>
          </a:xfrm>
          <a:prstGeom prst="rect">
            <a:avLst/>
          </a:prstGeom>
          <a:solidFill>
            <a:srgbClr val="C8FA32"/>
          </a:solidFill>
          <a:ln/>
        </p:spPr>
      </p:sp>
      <p:sp>
        <p:nvSpPr>
          <p:cNvPr id="9" name="Text 7"/>
          <p:cNvSpPr/>
          <p:nvPr/>
        </p:nvSpPr>
        <p:spPr>
          <a:xfrm>
            <a:off x="4389120" y="4846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Vlada Misici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389120" y="528523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Entry  ·  Spring School 2026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389120" y="5943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8F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Beating both organizer baselines on the hardest stroke patients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45720" cy="6126480"/>
          </a:xfrm>
          <a:prstGeom prst="rect">
            <a:avLst/>
          </a:prstGeom>
          <a:solidFill>
            <a:srgbClr val="C8FA32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228600"/>
            <a:ext cx="1417320" cy="365760"/>
          </a:xfrm>
          <a:prstGeom prst="roundRect">
            <a:avLst>
              <a:gd name="adj" fmla="val 12500"/>
            </a:avLst>
          </a:prstGeom>
          <a:solidFill>
            <a:srgbClr val="C8FA32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0" y="22860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BR41N.IO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320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F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headline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0" b="1" dirty="0">
                <a:solidFill>
                  <a:srgbClr val="C8F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6</a:t>
            </a:r>
            <a:endParaRPr lang="en-US" sz="11000" dirty="0"/>
          </a:p>
        </p:txBody>
      </p:sp>
      <p:sp>
        <p:nvSpPr>
          <p:cNvPr id="7" name="Text 5"/>
          <p:cNvSpPr/>
          <p:nvPr/>
        </p:nvSpPr>
        <p:spPr>
          <a:xfrm>
            <a:off x="548640" y="24231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where I beat BOTH organizer baselines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(CSP+LDA and PCA+TVLDA)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3749040"/>
            <a:ext cx="3657600" cy="2103120"/>
          </a:xfrm>
          <a:prstGeom prst="roundRect">
            <a:avLst>
              <a:gd name="adj" fmla="val 4348"/>
            </a:avLst>
          </a:prstGeom>
          <a:solidFill>
            <a:srgbClr val="1A1A1A"/>
          </a:solidFill>
          <a:ln w="25400">
            <a:solidFill>
              <a:srgbClr val="C8FA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9319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8F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+11.7 pp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731520" y="484632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gain over CSP+LDA  (5 of 6 conditions)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89120" y="3749040"/>
            <a:ext cx="3657600" cy="2103120"/>
          </a:xfrm>
          <a:prstGeom prst="roundRect">
            <a:avLst>
              <a:gd name="adj" fmla="val 4348"/>
            </a:avLst>
          </a:prstGeom>
          <a:solidFill>
            <a:srgbClr val="1A1A1A"/>
          </a:solidFill>
          <a:ln w="25400">
            <a:solidFill>
              <a:srgbClr val="C8FA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0" y="39319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8F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100.0 %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572000" y="484632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P2_post  ·  FBCSP+LDA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0" y="3749040"/>
            <a:ext cx="3657600" cy="2103120"/>
          </a:xfrm>
          <a:prstGeom prst="roundRect">
            <a:avLst>
              <a:gd name="adj" fmla="val 4348"/>
            </a:avLst>
          </a:prstGeom>
          <a:solidFill>
            <a:srgbClr val="1A1A1A"/>
          </a:solidFill>
          <a:ln w="25400">
            <a:solidFill>
              <a:srgbClr val="C8FA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39319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8F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+32 pp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8412480" y="484632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P2_pre vs original window  (52 → 84 %)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BR41N.IO Spring School 2026  |  Stroke Rehab Data Analysis  |  Vlada Misici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45720" cy="6126480"/>
          </a:xfrm>
          <a:prstGeom prst="rect">
            <a:avLst/>
          </a:prstGeom>
          <a:solidFill>
            <a:srgbClr val="C8FA32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228600"/>
            <a:ext cx="1417320" cy="365760"/>
          </a:xfrm>
          <a:prstGeom prst="roundRect">
            <a:avLst>
              <a:gd name="adj" fmla="val 12500"/>
            </a:avLst>
          </a:prstGeom>
          <a:solidFill>
            <a:srgbClr val="C8FA32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0" y="22860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BR41N.IO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3200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Challenge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F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standard BCI struggles on stroke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45720" cy="914400"/>
          </a:xfrm>
          <a:prstGeom prst="rect">
            <a:avLst/>
          </a:prstGeom>
          <a:solidFill>
            <a:srgbClr val="C8FA32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8288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Weaker, more diffuse signals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219456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Stroke patients produce smaller and less lateralized ERD than healthy subjects.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880360"/>
            <a:ext cx="45720" cy="914400"/>
          </a:xfrm>
          <a:prstGeom prst="rect">
            <a:avLst/>
          </a:prstGeom>
          <a:solidFill>
            <a:srgbClr val="C8FA32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8803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~46 % show clear contralateral ERD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32461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recruit ipsilateral or compensatory regions.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45720" cy="914400"/>
          </a:xfrm>
          <a:prstGeom prst="rect">
            <a:avLst/>
          </a:prstGeom>
          <a:solidFill>
            <a:srgbClr val="C8FA32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9319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CSP+LDA gets 68–77 % on pre-data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42976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 for closed-loop BCI control.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0" y="11887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F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Lateralization Index — clinical biomarker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400800" y="1828800"/>
            <a:ext cx="5303520" cy="1097280"/>
          </a:xfrm>
          <a:prstGeom prst="roundRect">
            <a:avLst>
              <a:gd name="adj" fmla="val 6667"/>
            </a:avLst>
          </a:prstGeom>
          <a:solidFill>
            <a:srgbClr val="1A1A1A"/>
          </a:solidFill>
          <a:ln w="12700">
            <a:solidFill>
              <a:srgbClr val="C8FA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1828800"/>
            <a:ext cx="5303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F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  =  (ERD_contra − ERD_ipsi)  ⁄  (ERD_contra + ERD_ipsi)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0" y="3108960"/>
            <a:ext cx="5303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400"/>
              </a:spcBef>
              <a:buNone/>
            </a:pPr>
            <a:r>
              <a:rPr lang="en-US" sz="13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 &gt; 0</a:t>
            </a:r>
            <a:pPr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bilateral / healthy pattern
</a:t>
            </a:r>
            <a:pPr indent="0" marL="0">
              <a:spcBef>
                <a:spcPts val="400"/>
              </a:spcBef>
              <a:buNone/>
            </a:pPr>
            <a:r>
              <a:rPr lang="en-US" sz="13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 ≈ 0</a:t>
            </a:r>
            <a:pPr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diffuse activation
</a:t>
            </a:r>
            <a:pPr indent="0" marL="0">
              <a:spcBef>
                <a:spcPts val="400"/>
              </a:spcBef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 &lt; 0</a:t>
            </a:r>
            <a:pPr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ipsilesional dominance (compensatory)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0" y="4617720"/>
            <a:ext cx="5303520" cy="1097280"/>
          </a:xfrm>
          <a:prstGeom prst="roundRect">
            <a:avLst>
              <a:gd name="adj" fmla="val 6667"/>
            </a:avLst>
          </a:prstGeom>
          <a:solidFill>
            <a:srgbClr val="1A1A1A"/>
          </a:solidFill>
          <a:ln w="12700">
            <a:solidFill>
              <a:srgbClr val="8FB0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461772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FA32"/>
                </a:solidFill>
              </a:rPr>
              <a:t>Clinical anchor: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LI correlates with Fugl-Meyer motor scores </a:t>
            </a:r>
            <a:pPr indent="0" marL="0">
              <a:buNone/>
            </a:pPr>
            <a:r>
              <a:rPr lang="en-US" sz="1300" b="1" dirty="0">
                <a:solidFill>
                  <a:srgbClr val="C8FA32"/>
                </a:solidFill>
              </a:rPr>
              <a:t>(r = 0.57–0.61)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.  We use it both as a biomarker </a:t>
            </a:r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and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to interpret why one pipeline beats another per patient.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5029200"/>
            <a:ext cx="5303520" cy="777240"/>
          </a:xfrm>
          <a:prstGeom prst="roundRect">
            <a:avLst>
              <a:gd name="adj" fmla="val 9412"/>
            </a:avLst>
          </a:prstGeom>
          <a:solidFill>
            <a:srgbClr val="C8FA32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5029200"/>
            <a:ext cx="5303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— beat both baselines, with clinical interpretation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BR41N.IO Spring School 2026  |  Stroke Rehab Data Analysis  |  Vlada Misici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45720" cy="6126480"/>
          </a:xfrm>
          <a:prstGeom prst="rect">
            <a:avLst/>
          </a:prstGeom>
          <a:solidFill>
            <a:srgbClr val="C8FA32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228600"/>
            <a:ext cx="1417320" cy="365760"/>
          </a:xfrm>
          <a:prstGeom prst="roundRect">
            <a:avLst>
              <a:gd name="adj" fmla="val 12500"/>
            </a:avLst>
          </a:prstGeom>
          <a:solidFill>
            <a:srgbClr val="C8FA32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0" y="22860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BR41N.IO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3200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 ·  the key insight</a:t>
            </a:r>
            <a:endParaRPr lang="en-US" sz="3200" dirty="0"/>
          </a:p>
        </p:txBody>
      </p:sp>
      <p:pic>
        <p:nvPicPr>
          <p:cNvPr id="6" name="Image 0" descr="/home/claude/work2/charts/paradig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11064240" cy="42062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5440680"/>
            <a:ext cx="3520440" cy="960120"/>
          </a:xfrm>
          <a:prstGeom prst="roundRect">
            <a:avLst>
              <a:gd name="adj" fmla="val 7619"/>
            </a:avLst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" y="54864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F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85800" y="57607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100"/>
              </a:spcBef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0.5–30 Hz bandpass</a:t>
            </a:r>
            <a:endParaRPr lang="en-US" sz="1050" dirty="0"/>
          </a:p>
          <a:p>
            <a:pPr indent="0" marL="0">
              <a:spcBef>
                <a:spcPts val="100"/>
              </a:spcBef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artifact rejection</a:t>
            </a:r>
            <a:endParaRPr lang="en-US" sz="1050" dirty="0"/>
          </a:p>
          <a:p>
            <a:pPr indent="0" marL="0">
              <a:spcBef>
                <a:spcPts val="100"/>
              </a:spcBef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16-ch sensorimotor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251960" y="5440680"/>
            <a:ext cx="3520440" cy="960120"/>
          </a:xfrm>
          <a:prstGeom prst="roundRect">
            <a:avLst>
              <a:gd name="adj" fmla="val 7619"/>
            </a:avLst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389120" y="54864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F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 tested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389120" y="57607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100"/>
              </a:spcBef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FBCSP+LDA (primary)</a:t>
            </a:r>
            <a:endParaRPr lang="en-US" sz="1050" dirty="0"/>
          </a:p>
          <a:p>
            <a:pPr indent="0" marL="0">
              <a:spcBef>
                <a:spcPts val="100"/>
              </a:spcBef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ACM(3,7) (secondary)</a:t>
            </a:r>
            <a:endParaRPr lang="en-US" sz="1050" dirty="0"/>
          </a:p>
          <a:p>
            <a:pPr indent="0" marL="0">
              <a:spcBef>
                <a:spcPts val="100"/>
              </a:spcBef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+ 6 Riemannian variants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955280" y="5440680"/>
            <a:ext cx="3520440" cy="960120"/>
          </a:xfrm>
          <a:prstGeom prst="roundRect">
            <a:avLst>
              <a:gd name="adj" fmla="val 7619"/>
            </a:avLst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092440" y="54864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F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wins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092440" y="57607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100"/>
              </a:spcBef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phase carries</a:t>
            </a:r>
            <a:endParaRPr lang="en-US" sz="1050" dirty="0"/>
          </a:p>
          <a:p>
            <a:pPr indent="0" marL="0">
              <a:spcBef>
                <a:spcPts val="100"/>
              </a:spcBef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FES-evoked SMR</a:t>
            </a:r>
            <a:endParaRPr lang="en-US" sz="1050" dirty="0"/>
          </a:p>
          <a:p>
            <a:pPr indent="0" marL="0">
              <a:spcBef>
                <a:spcPts val="100"/>
              </a:spcBef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stronger and stabler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BR41N.IO Spring School 2026  |  Stroke Rehab Data Analysis  |  Vlada Misici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45720" cy="6126480"/>
          </a:xfrm>
          <a:prstGeom prst="rect">
            <a:avLst/>
          </a:prstGeom>
          <a:solidFill>
            <a:srgbClr val="C8FA32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228600"/>
            <a:ext cx="1417320" cy="365760"/>
          </a:xfrm>
          <a:prstGeom prst="roundRect">
            <a:avLst>
              <a:gd name="adj" fmla="val 12500"/>
            </a:avLst>
          </a:prstGeom>
          <a:solidFill>
            <a:srgbClr val="C8FA32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0" y="22860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BR41N.IO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3200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 ·  systematic comparison</a:t>
            </a:r>
            <a:endParaRPr lang="en-US" sz="3200" dirty="0"/>
          </a:p>
        </p:txBody>
      </p:sp>
      <p:pic>
        <p:nvPicPr>
          <p:cNvPr id="6" name="Image 0" descr="/home/claude/work2/charts/pipeline_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11064240" cy="2560320"/>
          </a:xfrm>
          <a:prstGeom prst="rect">
            <a:avLst/>
          </a:prstGeom>
        </p:spPr>
      </p:pic>
      <p:pic>
        <p:nvPicPr>
          <p:cNvPr id="7" name="Image 1" descr="/home/claude/work2/charts/heat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794760"/>
            <a:ext cx="7772400" cy="2606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595360" y="37947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F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validation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8595360" y="41605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100"/>
              </a:spcBef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Permutation test</a:t>
            </a:r>
            <a:endParaRPr lang="en-US" sz="1050" dirty="0"/>
          </a:p>
          <a:p>
            <a:pPr indent="0" marL="0">
              <a:spcBef>
                <a:spcPts val="100"/>
              </a:spcBef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 = 0.001 (n=1000)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8595360" y="472744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100"/>
              </a:spcBef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Cohen's κ ≥ 0.825</a:t>
            </a:r>
            <a:endParaRPr lang="en-US" sz="1050" dirty="0"/>
          </a:p>
          <a:p>
            <a:pPr indent="0" marL="0">
              <a:spcBef>
                <a:spcPts val="100"/>
              </a:spcBef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almost perfect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8595360" y="5294376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100"/>
              </a:spcBef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Binomial threshold</a:t>
            </a:r>
            <a:endParaRPr lang="en-US" sz="1050" dirty="0"/>
          </a:p>
          <a:p>
            <a:pPr indent="0" marL="0">
              <a:spcBef>
                <a:spcPts val="100"/>
              </a:spcBef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58.8 % (n=80)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8595360" y="5861304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100"/>
              </a:spcBef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+ 5-fold CV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BR41N.IO Spring School 2026  |  Stroke Rehab Data Analysis  |  Vlada Misici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45720" cy="6126480"/>
          </a:xfrm>
          <a:prstGeom prst="rect">
            <a:avLst/>
          </a:prstGeom>
          <a:solidFill>
            <a:srgbClr val="C8FA32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228600"/>
            <a:ext cx="1417320" cy="365760"/>
          </a:xfrm>
          <a:prstGeom prst="roundRect">
            <a:avLst>
              <a:gd name="adj" fmla="val 12500"/>
            </a:avLst>
          </a:prstGeom>
          <a:solidFill>
            <a:srgbClr val="C8FA32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0" y="22860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BR41N.IO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3200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3200" dirty="0"/>
          </a:p>
        </p:txBody>
      </p:sp>
      <p:pic>
        <p:nvPicPr>
          <p:cNvPr id="6" name="Image 0" descr="/home/claude/work2/charts/results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51560"/>
            <a:ext cx="11064240" cy="4114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5349240"/>
            <a:ext cx="3520440" cy="1078992"/>
          </a:xfrm>
          <a:prstGeom prst="roundRect">
            <a:avLst>
              <a:gd name="adj" fmla="val 6780"/>
            </a:avLst>
          </a:prstGeom>
          <a:solidFill>
            <a:srgbClr val="1A1A1A"/>
          </a:solidFill>
          <a:ln w="12700">
            <a:solidFill>
              <a:srgbClr val="C8FA3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" y="539496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F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6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85800" y="580644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beat CSP+LDA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85800" y="608076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+11.7 pp average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251960" y="5349240"/>
            <a:ext cx="3520440" cy="1078992"/>
          </a:xfrm>
          <a:prstGeom prst="roundRect">
            <a:avLst>
              <a:gd name="adj" fmla="val 6780"/>
            </a:avLst>
          </a:prstGeom>
          <a:solidFill>
            <a:srgbClr val="1A1A1A"/>
          </a:solidFill>
          <a:ln w="12700">
            <a:solidFill>
              <a:srgbClr val="C8FA3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389120" y="539496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F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6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4389120" y="580644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beat BOTH baselines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389120" y="608076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P2_pre, P2_post, P3_pre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7955280" y="5349240"/>
            <a:ext cx="3520440" cy="1078992"/>
          </a:xfrm>
          <a:prstGeom prst="roundRect">
            <a:avLst>
              <a:gd name="adj" fmla="val 6780"/>
            </a:avLst>
          </a:prstGeom>
          <a:solidFill>
            <a:srgbClr val="1A1A1A"/>
          </a:solidFill>
          <a:ln w="12700">
            <a:solidFill>
              <a:srgbClr val="C8FA3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092440" y="539496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F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+15.3 pp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8092440" y="580644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gain on the hardest patient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092440" y="608076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P2_pre  ·  FBCSP+LDA  ·  68 → 84 %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BR41N.IO Spring School 2026  |  Stroke Rehab Data Analysis  |  Vlada Misici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45720" cy="6126480"/>
          </a:xfrm>
          <a:prstGeom prst="rect">
            <a:avLst/>
          </a:prstGeom>
          <a:solidFill>
            <a:srgbClr val="C8FA32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228600"/>
            <a:ext cx="1417320" cy="365760"/>
          </a:xfrm>
          <a:prstGeom prst="roundRect">
            <a:avLst>
              <a:gd name="adj" fmla="val 12500"/>
            </a:avLst>
          </a:prstGeom>
          <a:solidFill>
            <a:srgbClr val="C8FA32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0" y="22860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BR41N.IO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3200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insights</a:t>
            </a:r>
            <a:endParaRPr lang="en-US" sz="3200" dirty="0"/>
          </a:p>
        </p:txBody>
      </p:sp>
      <p:pic>
        <p:nvPicPr>
          <p:cNvPr id="6" name="Image 0" descr="/home/claude/work2/charts/lateraliz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6858000" cy="3474720"/>
          </a:xfrm>
          <a:prstGeom prst="rect">
            <a:avLst/>
          </a:prstGeom>
        </p:spPr>
      </p:pic>
      <p:pic>
        <p:nvPicPr>
          <p:cNvPr id="7" name="Image 1" descr="/home/claude/work2/charts/confusion_matri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097280"/>
            <a:ext cx="4023360" cy="34747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4754880"/>
            <a:ext cx="6858000" cy="1645920"/>
          </a:xfrm>
          <a:prstGeom prst="roundRect">
            <a:avLst>
              <a:gd name="adj" fmla="val 4444"/>
            </a:avLst>
          </a:prstGeom>
          <a:solidFill>
            <a:srgbClr val="1A1A1A"/>
          </a:solidFill>
          <a:ln w="25400">
            <a:solidFill>
              <a:srgbClr val="C8FA32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31520" y="484632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F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1  ·  rehabilitation effect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731520" y="5212080"/>
            <a:ext cx="6492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200"/>
              </a:spcBef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Mu-band LI shifted from </a:t>
            </a:r>
            <a:pPr indent="0" marL="0">
              <a:spcBef>
                <a:spcPts val="200"/>
              </a:spcBef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−0.297</a:t>
            </a:r>
            <a:pPr indent="0" marL="0">
              <a:spcBef>
                <a:spcPts val="200"/>
              </a:spcBef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</a:t>
            </a:r>
            <a:pPr indent="0" marL="0">
              <a:spcBef>
                <a:spcPts val="200"/>
              </a:spcBef>
              <a:buNone/>
            </a:pPr>
            <a:r>
              <a:rPr lang="en-US" sz="13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+0.075</a:t>
            </a:r>
            <a:pPr indent="0" marL="0">
              <a:spcBef>
                <a:spcPts val="200"/>
              </a:spcBef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after 25 sessions of recoveriX therapy.
</a:t>
            </a:r>
            <a:pPr indent="0" marL="0">
              <a:spcBef>
                <a:spcPts val="200"/>
              </a:spcBef>
              <a:buNone/>
            </a:pPr>
            <a:r>
              <a:rPr lang="en-US" sz="13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Right-dominant compensation → bilateral healthy pattern.  </a:t>
            </a:r>
            <a:pPr indent="0" marL="0">
              <a:spcBef>
                <a:spcPts val="200"/>
              </a:spcBef>
              <a:buNone/>
            </a:pPr>
            <a:r>
              <a:rPr lang="en-US" sz="1300" b="1" i="1" dirty="0">
                <a:solidFill>
                  <a:srgbClr val="C8F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also rose 91 → 94 %.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7680960" y="475488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818120" y="48463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F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P2_pre  ·  hardest case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7818120" y="521208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200"/>
              </a:spcBef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FBCSP+LDA reached </a:t>
            </a:r>
            <a:pPr indent="0" marL="0">
              <a:spcBef>
                <a:spcPts val="200"/>
              </a:spcBef>
              <a:buNone/>
            </a:pPr>
            <a:r>
              <a:rPr lang="en-US" sz="1200" b="1" dirty="0">
                <a:solidFill>
                  <a:srgbClr val="C8F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83.8 %</a:t>
            </a:r>
            <a:pPr indent="0" marL="0">
              <a:spcBef>
                <a:spcPts val="200"/>
              </a:spcBef>
              <a:buNone/>
            </a:pPr>
            <a:endParaRPr lang="en-US" sz="12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CSP+LDA gets only 56 %.  </a:t>
            </a:r>
            <a:endParaRPr lang="en-US" sz="1200" dirty="0"/>
          </a:p>
          <a:p>
            <a:pPr indent="0" marL="0">
              <a:spcBef>
                <a:spcPts val="200"/>
              </a:spcBef>
              <a:buNone/>
            </a:pPr>
            <a:r>
              <a:rPr lang="en-US" sz="12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balance is preserved (L 85 %, R 82.5 %)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BR41N.IO Spring School 2026  |  Stroke Rehab Data Analysis  |  Vlada Misici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45720" cy="6126480"/>
          </a:xfrm>
          <a:prstGeom prst="rect">
            <a:avLst/>
          </a:prstGeom>
          <a:solidFill>
            <a:srgbClr val="C8FA32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228600"/>
            <a:ext cx="1417320" cy="365760"/>
          </a:xfrm>
          <a:prstGeom prst="roundRect">
            <a:avLst>
              <a:gd name="adj" fmla="val 12500"/>
            </a:avLst>
          </a:prstGeom>
          <a:solidFill>
            <a:srgbClr val="C8FA32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0" y="22860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BR41N.IO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3200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 ·  why this matters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5486400" cy="2423160"/>
          </a:xfrm>
          <a:prstGeom prst="roundRect">
            <a:avLst>
              <a:gd name="adj" fmla="val 3019"/>
            </a:avLst>
          </a:prstGeom>
          <a:solidFill>
            <a:srgbClr val="1A1A1A"/>
          </a:solidFill>
          <a:ln w="19050">
            <a:solidFill>
              <a:srgbClr val="C8FA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5087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8F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pipeline dominates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10312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200"/>
              </a:spcBef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FBCSP+LDA wins 4/6, ACM wins 2/6.  Stratifying per patient is essential — single-method recoveriX deployment leaves accuracy on the table.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1280160"/>
            <a:ext cx="5486400" cy="2423160"/>
          </a:xfrm>
          <a:prstGeom prst="roundRect">
            <a:avLst>
              <a:gd name="adj" fmla="val 3019"/>
            </a:avLst>
          </a:prstGeom>
          <a:solidFill>
            <a:srgbClr val="1A1A1A"/>
          </a:solidFill>
          <a:ln w="19050">
            <a:solidFill>
              <a:srgbClr val="C8FA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5087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8F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FBCSP works on stroke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0" y="210312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200"/>
              </a:spcBef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Stroke shifts ERD into theta (4–8 Hz) and broadens the spectrum.  Six sub-band CSP captures these patient-specific frequency shifts that single-band CSP misses.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5486400" cy="2423160"/>
          </a:xfrm>
          <a:prstGeom prst="roundRect">
            <a:avLst>
              <a:gd name="adj" fmla="val 3019"/>
            </a:avLst>
          </a:prstGeom>
          <a:solidFill>
            <a:srgbClr val="1A1A1A"/>
          </a:solidFill>
          <a:ln w="19050">
            <a:solidFill>
              <a:srgbClr val="C8FA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1148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8F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ACM works on diffuse cases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77240" y="470916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200"/>
              </a:spcBef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Takens delay embedding turns temporal dynamics into spatial structure inside the covariance matrix — useful exactly when spatial contrast is weak (bilateral patients).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72200" y="3886200"/>
            <a:ext cx="5486400" cy="2423160"/>
          </a:xfrm>
          <a:prstGeom prst="roundRect">
            <a:avLst>
              <a:gd name="adj" fmla="val 3019"/>
            </a:avLst>
          </a:prstGeom>
          <a:solidFill>
            <a:srgbClr val="1A1A1A"/>
          </a:solidFill>
          <a:ln w="19050">
            <a:solidFill>
              <a:srgbClr val="8888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41148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 ·  honest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0" y="470916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Bef>
                <a:spcPts val="200"/>
              </a:spcBef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Solo, 24h scope.  Within-session split (no cross-session test).  3 patients only.  Window choice motivated by paradigm, validated by permutation test, but worth replication.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BR41N.IO Spring School 2026  |  Stroke Rehab Data Analysis  |  Vlada Misici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C8FA32"/>
          </a:solidFill>
          <a:ln/>
        </p:spPr>
      </p:sp>
      <p:sp>
        <p:nvSpPr>
          <p:cNvPr id="3" name="Shape 1"/>
          <p:cNvSpPr/>
          <p:nvPr/>
        </p:nvSpPr>
        <p:spPr>
          <a:xfrm>
            <a:off x="4206240" y="640080"/>
            <a:ext cx="2011680" cy="548640"/>
          </a:xfrm>
          <a:prstGeom prst="roundRect">
            <a:avLst>
              <a:gd name="adj" fmla="val 13333"/>
            </a:avLst>
          </a:prstGeom>
          <a:solidFill>
            <a:srgbClr val="C8FA32"/>
          </a:solidFill>
          <a:ln/>
        </p:spPr>
      </p:sp>
      <p:sp>
        <p:nvSpPr>
          <p:cNvPr id="4" name="Text 2"/>
          <p:cNvSpPr/>
          <p:nvPr/>
        </p:nvSpPr>
        <p:spPr>
          <a:xfrm>
            <a:off x="4206240" y="6400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BR41N.IO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0" y="155448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C8F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4114800" y="2743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Patient-stratified MI classification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0" y="31546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stroke rehabilitation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114800" y="4114800"/>
            <a:ext cx="2423160" cy="1280160"/>
          </a:xfrm>
          <a:prstGeom prst="roundRect">
            <a:avLst>
              <a:gd name="adj" fmla="val 5714"/>
            </a:avLst>
          </a:prstGeom>
          <a:solidFill>
            <a:srgbClr val="1A1A1A"/>
          </a:solidFill>
          <a:ln w="19050">
            <a:solidFill>
              <a:srgbClr val="C8FA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0" y="416052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F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6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114800" y="480060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 CSP+LDA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720840" y="4114800"/>
            <a:ext cx="2423160" cy="1280160"/>
          </a:xfrm>
          <a:prstGeom prst="roundRect">
            <a:avLst>
              <a:gd name="adj" fmla="val 5714"/>
            </a:avLst>
          </a:prstGeom>
          <a:solidFill>
            <a:srgbClr val="1A1A1A"/>
          </a:solidFill>
          <a:ln w="19050">
            <a:solidFill>
              <a:srgbClr val="C8FA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20840" y="416052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F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6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720840" y="480060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 both baselines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326880" y="4114800"/>
            <a:ext cx="2423160" cy="1280160"/>
          </a:xfrm>
          <a:prstGeom prst="roundRect">
            <a:avLst>
              <a:gd name="adj" fmla="val 5714"/>
            </a:avLst>
          </a:prstGeom>
          <a:solidFill>
            <a:srgbClr val="1A1A1A"/>
          </a:solidFill>
          <a:ln w="19050">
            <a:solidFill>
              <a:srgbClr val="C8FA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0" y="416052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F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+11.7 pp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326880" y="480060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gain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60520" y="5852160"/>
            <a:ext cx="45720" cy="640080"/>
          </a:xfrm>
          <a:prstGeom prst="rect">
            <a:avLst/>
          </a:prstGeom>
          <a:solidFill>
            <a:srgbClr val="C8FA32"/>
          </a:solidFill>
          <a:ln/>
        </p:spPr>
      </p:sp>
      <p:sp>
        <p:nvSpPr>
          <p:cNvPr id="18" name="Text 16"/>
          <p:cNvSpPr/>
          <p:nvPr/>
        </p:nvSpPr>
        <p:spPr>
          <a:xfrm>
            <a:off x="4389120" y="5852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Vlada Misici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389120" y="6172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Entry  ·  Spring School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Patient-Stratified Motor Imagery Classification for Stroke Rehabilitation</dc:title>
  <dc:subject>PptxGenJS Presentation</dc:subject>
  <dc:creator>Vlada Misici</dc:creator>
  <cp:lastModifiedBy>Vlada Misici</cp:lastModifiedBy>
  <cp:revision>1</cp:revision>
  <dcterms:created xsi:type="dcterms:W3CDTF">2026-04-25T17:24:51Z</dcterms:created>
  <dcterms:modified xsi:type="dcterms:W3CDTF">2026-04-25T17:24:51Z</dcterms:modified>
</cp:coreProperties>
</file>